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24"/>
  </p:notesMasterIdLst>
  <p:sldIdLst>
    <p:sldId id="263" r:id="rId2"/>
    <p:sldId id="279" r:id="rId3"/>
    <p:sldId id="280" r:id="rId4"/>
    <p:sldId id="281" r:id="rId5"/>
    <p:sldId id="283" r:id="rId6"/>
    <p:sldId id="265" r:id="rId7"/>
    <p:sldId id="259" r:id="rId8"/>
    <p:sldId id="256" r:id="rId9"/>
    <p:sldId id="264" r:id="rId10"/>
    <p:sldId id="260" r:id="rId11"/>
    <p:sldId id="266" r:id="rId12"/>
    <p:sldId id="267" r:id="rId13"/>
    <p:sldId id="268" r:id="rId14"/>
    <p:sldId id="261" r:id="rId15"/>
    <p:sldId id="262" r:id="rId16"/>
    <p:sldId id="269" r:id="rId17"/>
    <p:sldId id="271" r:id="rId18"/>
    <p:sldId id="272" r:id="rId19"/>
    <p:sldId id="274" r:id="rId20"/>
    <p:sldId id="275" r:id="rId21"/>
    <p:sldId id="278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C55C"/>
    <a:srgbClr val="0432FF"/>
    <a:srgbClr val="0096FF"/>
    <a:srgbClr val="F3714B"/>
    <a:srgbClr val="EB704E"/>
    <a:srgbClr val="43B49E"/>
    <a:srgbClr val="FBD021"/>
    <a:srgbClr val="0E1B2B"/>
    <a:srgbClr val="EFEEE3"/>
    <a:srgbClr val="53A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74"/>
    <p:restoredTop sz="94674"/>
  </p:normalViewPr>
  <p:slideViewPr>
    <p:cSldViewPr snapToGrid="0">
      <p:cViewPr varScale="1">
        <p:scale>
          <a:sx n="119" d="100"/>
          <a:sy n="119" d="100"/>
        </p:scale>
        <p:origin x="1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08:27:39.787"/>
    </inkml:context>
    <inkml:brush xml:id="br0">
      <inkml:brushProperty name="width" value="0.3" units="cm"/>
      <inkml:brushProperty name="height" value="0.6" units="cm"/>
      <inkml:brushProperty name="color" value="#E9E6A3"/>
      <inkml:brushProperty name="tip" value="rectangle"/>
      <inkml:brushProperty name="rasterOp" value="maskPen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08:27:39.787"/>
    </inkml:context>
    <inkml:brush xml:id="br0">
      <inkml:brushProperty name="width" value="0.3" units="cm"/>
      <inkml:brushProperty name="height" value="0.6" units="cm"/>
      <inkml:brushProperty name="color" value="#E9E6A3"/>
      <inkml:brushProperty name="tip" value="rectangle"/>
      <inkml:brushProperty name="rasterOp" value="maskPen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31FF3-F52E-FE4B-874E-D619AFFF9533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EB08-1E53-E04E-8354-71248FBF5CC2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71922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EB08-1E53-E04E-8354-71248FBF5CC2}" type="slidenum">
              <a:rPr lang="ru-UA" smtClean="0"/>
              <a:t>1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920405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EB08-1E53-E04E-8354-71248FBF5CC2}" type="slidenum">
              <a:rPr lang="ru-UA" smtClean="0"/>
              <a:t>3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093152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EB08-1E53-E04E-8354-71248FBF5CC2}" type="slidenum">
              <a:rPr lang="ru-UA" smtClean="0"/>
              <a:t>4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196979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EB08-1E53-E04E-8354-71248FBF5CC2}" type="slidenum">
              <a:rPr lang="ru-UA" smtClean="0"/>
              <a:t>5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779622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EB08-1E53-E04E-8354-71248FBF5CC2}" type="slidenum">
              <a:rPr lang="ru-UA" smtClean="0"/>
              <a:t>6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558589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1B686-5751-4343-8AED-8A19E411AB76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4B91-0259-AB45-A04D-EADD66E837D8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084883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1B686-5751-4343-8AED-8A19E411AB76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4B91-0259-AB45-A04D-EADD66E837D8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485530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1B686-5751-4343-8AED-8A19E411AB76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4B91-0259-AB45-A04D-EADD66E837D8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460349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1B686-5751-4343-8AED-8A19E411AB76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4B91-0259-AB45-A04D-EADD66E837D8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020739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1B686-5751-4343-8AED-8A19E411AB76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4B91-0259-AB45-A04D-EADD66E837D8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86856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1B686-5751-4343-8AED-8A19E411AB76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4B91-0259-AB45-A04D-EADD66E837D8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51429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1B686-5751-4343-8AED-8A19E411AB76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4B91-0259-AB45-A04D-EADD66E837D8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074767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1B686-5751-4343-8AED-8A19E411AB76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4B91-0259-AB45-A04D-EADD66E837D8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16234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1B686-5751-4343-8AED-8A19E411AB76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4B91-0259-AB45-A04D-EADD66E837D8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08452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1B686-5751-4343-8AED-8A19E411AB76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4B91-0259-AB45-A04D-EADD66E837D8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3167581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1B686-5751-4343-8AED-8A19E411AB76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D4B91-0259-AB45-A04D-EADD66E837D8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4175538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1B686-5751-4343-8AED-8A19E411AB76}" type="datetimeFigureOut">
              <a:rPr lang="ru-UA" smtClean="0"/>
              <a:t>09.05.2026</a:t>
            </a:fld>
            <a:endParaRPr lang="ru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1D4B91-0259-AB45-A04D-EADD66E837D8}" type="slidenum">
              <a:rPr lang="ru-UA" smtClean="0"/>
              <a:t>‹#›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76720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D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D3F679B9-101E-A067-20F9-8A3760121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195" y="0"/>
            <a:ext cx="96932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1C764D-DCA2-6B57-1426-D6C62B907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31" y="369192"/>
            <a:ext cx="5162867" cy="3749039"/>
          </a:xfrm>
          <a:ln>
            <a:noFill/>
          </a:ln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Source Serif Pro Black" panose="02040903050405020204" pitchFamily="18" charset="0"/>
                <a:ea typeface="+mn-ea"/>
                <a:cs typeface="+mn-cs"/>
              </a:rPr>
              <a:t>MEDIA DISINFORMATION COUNTERSTRATEGY: CHALLENGES AND PROSPECTS </a:t>
            </a:r>
            <a:br>
              <a:rPr lang="en-US" sz="1200" dirty="0">
                <a:effectLst/>
                <a:latin typeface="Helvetica" pitchFamily="2" charset="0"/>
              </a:rPr>
            </a:br>
            <a:endParaRPr lang="ru-UA" sz="3200" b="1" dirty="0">
              <a:latin typeface="Source Serif Pro Black" panose="02040903050405020204" pitchFamily="18" charset="0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89659A-B2EC-976A-4FB6-BBA862648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13" y="4614288"/>
            <a:ext cx="2547852" cy="15350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Source Serif Pro Black" panose="02040903050405020204" pitchFamily="18" charset="0"/>
              </a:rPr>
              <a:t>Prof. TARAS HURZHII</a:t>
            </a:r>
            <a:endParaRPr lang="uk-UA" sz="1800" b="1" dirty="0">
              <a:latin typeface="Source Serif Pro Black" panose="020409030504050202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Source Serif Pro Black" panose="02040903050405020204" pitchFamily="18" charset="0"/>
              </a:rPr>
              <a:t>State University of </a:t>
            </a:r>
          </a:p>
          <a:p>
            <a:pPr marL="0" indent="0">
              <a:buNone/>
            </a:pPr>
            <a:r>
              <a:rPr lang="en-US" sz="1800" b="1" dirty="0">
                <a:latin typeface="Source Serif Pro Black" panose="02040903050405020204" pitchFamily="18" charset="0"/>
              </a:rPr>
              <a:t>Trade and Economics</a:t>
            </a:r>
          </a:p>
          <a:p>
            <a:pPr marL="0" indent="0">
              <a:buNone/>
            </a:pPr>
            <a:r>
              <a:rPr lang="en-US" sz="1800" b="1" dirty="0">
                <a:latin typeface="Source Serif Pro Black" panose="02040903050405020204" pitchFamily="18" charset="0"/>
              </a:rPr>
              <a:t>Kyiv, Ukraine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UA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0D1176-7E77-C084-03AB-1DC864C56884}"/>
              </a:ext>
            </a:extLst>
          </p:cNvPr>
          <p:cNvSpPr txBox="1"/>
          <p:nvPr/>
        </p:nvSpPr>
        <p:spPr>
          <a:xfrm rot="20723638">
            <a:off x="7676516" y="191787"/>
            <a:ext cx="2025967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5000" b="1" dirty="0" err="1">
                <a:solidFill>
                  <a:srgbClr val="FF0000"/>
                </a:solidFill>
                <a:latin typeface="Nunito" pitchFamily="2" charset="-52"/>
              </a:rPr>
              <a:t>Х</a:t>
            </a:r>
            <a:endParaRPr lang="ru-UA" sz="25000" dirty="0"/>
          </a:p>
        </p:txBody>
      </p:sp>
    </p:spTree>
    <p:extLst>
      <p:ext uri="{BB962C8B-B14F-4D97-AF65-F5344CB8AC3E}">
        <p14:creationId xmlns:p14="http://schemas.microsoft.com/office/powerpoint/2010/main" val="1597891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4CF1733-44DA-CFB1-7C7B-4439E52CD74B}"/>
              </a:ext>
            </a:extLst>
          </p:cNvPr>
          <p:cNvSpPr txBox="1"/>
          <p:nvPr/>
        </p:nvSpPr>
        <p:spPr>
          <a:xfrm>
            <a:off x="973667" y="4246010"/>
            <a:ext cx="1045633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7675" algn="just">
              <a:spcBef>
                <a:spcPts val="900"/>
              </a:spcBef>
            </a:pPr>
            <a:r>
              <a:rPr lang="uk-UA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«</a:t>
            </a:r>
            <a:r>
              <a:rPr lang="en-US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DISINFORMATION is understood as verifiably false or misleading information that is created, presented and disseminated for economic gain or to intentionally deceive the public, and may cause public harm</a:t>
            </a:r>
            <a:r>
              <a:rPr lang="uk-UA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»</a:t>
            </a:r>
            <a:endParaRPr lang="en-US" sz="2800" b="1" i="0" dirty="0">
              <a:solidFill>
                <a:srgbClr val="FF0000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536BC70-49EA-ADE0-5293-D136E92AD4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291" b="12443"/>
          <a:stretch/>
        </p:blipFill>
        <p:spPr>
          <a:xfrm>
            <a:off x="0" y="0"/>
            <a:ext cx="12191999" cy="396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14483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kraine flag and Russian Flag">
            <a:extLst>
              <a:ext uri="{FF2B5EF4-FFF2-40B4-BE49-F238E27FC236}">
                <a16:creationId xmlns:a16="http://schemas.microsoft.com/office/drawing/2014/main" id="{C533F658-C64A-5794-8477-5B740DD439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32"/>
          <a:stretch/>
        </p:blipFill>
        <p:spPr bwMode="auto">
          <a:xfrm rot="10800000">
            <a:off x="0" y="-1"/>
            <a:ext cx="12192000" cy="6936123"/>
          </a:xfrm>
          <a:prstGeom prst="rect">
            <a:avLst/>
          </a:prstGeom>
          <a:noFill/>
          <a:scene3d>
            <a:camera prst="orthographicFront">
              <a:rot lat="0" lon="21299992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C4A2D1-CE1B-9D78-37BF-0318E0E3BAC1}"/>
              </a:ext>
            </a:extLst>
          </p:cNvPr>
          <p:cNvSpPr txBox="1"/>
          <p:nvPr/>
        </p:nvSpPr>
        <p:spPr>
          <a:xfrm>
            <a:off x="0" y="2868886"/>
            <a:ext cx="7907867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Symbol" pitchFamily="2" charset="2"/>
              <a:buChar char=""/>
            </a:pP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latin typeface="Rockwell" panose="02060603020205020403" pitchFamily="18" charset="0"/>
                <a:ea typeface="Calibri" panose="020F0502020204030204" pitchFamily="34" charset="0"/>
              </a:rPr>
              <a:t>Promoting hostile</a:t>
            </a:r>
            <a:r>
              <a:rPr lang="uk-UA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latin typeface="Rockwell" panose="02060603020205020403" pitchFamily="18" charset="0"/>
                <a:ea typeface="Calibri" panose="020F0502020204030204" pitchFamily="34" charset="0"/>
              </a:rPr>
              <a:t> </a:t>
            </a: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latin typeface="Rockwell" panose="02060603020205020403" pitchFamily="18" charset="0"/>
                <a:ea typeface="Calibri" panose="020F0502020204030204" pitchFamily="34" charset="0"/>
              </a:rPr>
              <a:t>narratives </a:t>
            </a:r>
            <a:endParaRPr lang="uk-UA" sz="2800" b="1" dirty="0">
              <a:ln w="9525">
                <a:solidFill>
                  <a:schemeClr val="accent1">
                    <a:lumMod val="75000"/>
                  </a:schemeClr>
                </a:solidFill>
              </a:ln>
              <a:latin typeface="Rockwell" panose="02060603020205020403" pitchFamily="18" charset="0"/>
              <a:ea typeface="Calibri" panose="020F0502020204030204" pitchFamily="34" charset="0"/>
            </a:endParaRPr>
          </a:p>
          <a:p>
            <a:pPr marL="342900" indent="-342900">
              <a:spcBef>
                <a:spcPts val="1200"/>
              </a:spcBef>
              <a:buFont typeface="Symbol" pitchFamily="2" charset="2"/>
              <a:buChar char=""/>
            </a:pP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latin typeface="Rockwell" panose="02060603020205020403" pitchFamily="18" charset="0"/>
              </a:rPr>
              <a:t>Public discord</a:t>
            </a:r>
            <a:endParaRPr lang="ru-UA" sz="2800" b="1" dirty="0">
              <a:ln w="9525">
                <a:solidFill>
                  <a:schemeClr val="accent1">
                    <a:lumMod val="75000"/>
                  </a:schemeClr>
                </a:solidFill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Symbol" pitchFamily="2" charset="2"/>
              <a:buChar char=""/>
            </a:pP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effectLst/>
                <a:latin typeface="Rockwell" panose="02060603020205020403" pitchFamily="18" charset="0"/>
                <a:ea typeface="Calibri" panose="020F0502020204030204" pitchFamily="34" charset="0"/>
              </a:rPr>
              <a:t>Manipulation by </a:t>
            </a: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latin typeface="Rockwell" panose="02060603020205020403" pitchFamily="18" charset="0"/>
                <a:ea typeface="Calibri" panose="020F0502020204030204" pitchFamily="34" charset="0"/>
              </a:rPr>
              <a:t>public opinion</a:t>
            </a:r>
          </a:p>
          <a:p>
            <a:pPr marL="342900" lvl="0" indent="-342900">
              <a:spcBef>
                <a:spcPts val="1200"/>
              </a:spcBef>
              <a:buFont typeface="Symbol" pitchFamily="2" charset="2"/>
              <a:buChar char=""/>
            </a:pP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latin typeface="Rockwell" panose="02060603020205020403" pitchFamily="18" charset="0"/>
                <a:ea typeface="Calibri" panose="020F0502020204030204" pitchFamily="34" charset="0"/>
              </a:rPr>
              <a:t>Delegitimization of Ukraine’s government and democratic institutions</a:t>
            </a:r>
            <a:endParaRPr lang="ru-UA" sz="2800" b="1" dirty="0">
              <a:ln w="9525">
                <a:solidFill>
                  <a:schemeClr val="accent1">
                    <a:lumMod val="75000"/>
                  </a:schemeClr>
                </a:solidFill>
              </a:ln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Symbol" pitchFamily="2" charset="2"/>
              <a:buChar char=""/>
            </a:pP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latin typeface="Rockwell" panose="02060603020205020403" pitchFamily="18" charset="0"/>
                <a:ea typeface="Calibri" panose="020F0502020204030204" pitchFamily="34" charset="0"/>
              </a:rPr>
              <a:t>Weakening public trust in the media and civil society</a:t>
            </a:r>
            <a:endParaRPr lang="ru-UA" sz="2800" b="1" dirty="0">
              <a:ln w="9525">
                <a:solidFill>
                  <a:schemeClr val="accent1">
                    <a:lumMod val="75000"/>
                  </a:schemeClr>
                </a:solidFill>
              </a:ln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Bef>
                <a:spcPts val="1200"/>
              </a:spcBef>
              <a:buFont typeface="Symbol" pitchFamily="2" charset="2"/>
              <a:buChar char=""/>
            </a:pPr>
            <a:endParaRPr lang="ru-UA" sz="2800" b="1" dirty="0">
              <a:ln w="9525">
                <a:solidFill>
                  <a:schemeClr val="accent1">
                    <a:lumMod val="75000"/>
                  </a:schemeClr>
                </a:solidFill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99405-8AF6-B327-1D63-7CA3975F0DC2}"/>
              </a:ext>
            </a:extLst>
          </p:cNvPr>
          <p:cNvSpPr txBox="1"/>
          <p:nvPr/>
        </p:nvSpPr>
        <p:spPr>
          <a:xfrm>
            <a:off x="135467" y="222349"/>
            <a:ext cx="84751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6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latin typeface="Rockwell" panose="02060603020205020403" pitchFamily="18" charset="0"/>
              </a:rPr>
              <a:t>RUSSIAN DISINFORMATION </a:t>
            </a:r>
          </a:p>
          <a:p>
            <a:pPr lvl="0"/>
            <a:r>
              <a:rPr lang="en-US" sz="36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latin typeface="Rockwell" panose="02060603020205020403" pitchFamily="18" charset="0"/>
              </a:rPr>
              <a:t>CAMPAIGNS</a:t>
            </a:r>
          </a:p>
          <a:p>
            <a:pPr algn="just"/>
            <a:r>
              <a:rPr lang="en-US" sz="36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latin typeface="Rockwell" panose="02060603020205020403" pitchFamily="18" charset="0"/>
              </a:rPr>
              <a:t>MAIN OBJECTIVES:</a:t>
            </a:r>
          </a:p>
          <a:p>
            <a:pPr lvl="0" algn="just"/>
            <a:endParaRPr lang="en-US" sz="3600" b="1" dirty="0">
              <a:effectLst/>
              <a:latin typeface="Rockwell" panose="02060603020205020403" pitchFamily="18" charset="0"/>
              <a:ea typeface="Calibri" panose="020F050202020403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1567FB-D015-2A79-D05A-132D2BD67AA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695" r="6100"/>
          <a:stretch/>
        </p:blipFill>
        <p:spPr>
          <a:xfrm>
            <a:off x="5630332" y="949599"/>
            <a:ext cx="6426201" cy="495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4733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6E8DABCF-2292-1FEE-44EB-029BBDB514C4}"/>
              </a:ext>
            </a:extLst>
          </p:cNvPr>
          <p:cNvGrpSpPr/>
          <p:nvPr/>
        </p:nvGrpSpPr>
        <p:grpSpPr>
          <a:xfrm>
            <a:off x="0" y="0"/>
            <a:ext cx="12192001" cy="6858000"/>
            <a:chOff x="-1" y="0"/>
            <a:chExt cx="12192001" cy="6858000"/>
          </a:xfrm>
        </p:grpSpPr>
        <p:pic>
          <p:nvPicPr>
            <p:cNvPr id="3074" name="Picture 2" descr="Ukraine flag and Russian Flag">
              <a:extLst>
                <a:ext uri="{FF2B5EF4-FFF2-40B4-BE49-F238E27FC236}">
                  <a16:creationId xmlns:a16="http://schemas.microsoft.com/office/drawing/2014/main" id="{B6FC1E1F-1A3E-B462-59BC-78DD1CBA22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9476"/>
            <a:stretch/>
          </p:blipFill>
          <p:spPr bwMode="auto">
            <a:xfrm>
              <a:off x="-1" y="0"/>
              <a:ext cx="12192001" cy="6858000"/>
            </a:xfrm>
            <a:prstGeom prst="rect">
              <a:avLst/>
            </a:prstGeom>
            <a:noFill/>
          </p:spPr>
        </p:pic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1CBDC001-B60E-7441-D559-BE011E6068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61000"/>
            </a:blip>
            <a:srcRect l="25108"/>
            <a:stretch/>
          </p:blipFill>
          <p:spPr>
            <a:xfrm>
              <a:off x="6855244" y="1993612"/>
              <a:ext cx="4230970" cy="321936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5C4A2D1-CE1B-9D78-37BF-0318E0E3BAC1}"/>
              </a:ext>
            </a:extLst>
          </p:cNvPr>
          <p:cNvSpPr txBox="1"/>
          <p:nvPr/>
        </p:nvSpPr>
        <p:spPr>
          <a:xfrm>
            <a:off x="407221" y="1993612"/>
            <a:ext cx="6719777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1800"/>
              </a:spcBef>
              <a:buFont typeface="Symbol" pitchFamily="2" charset="2"/>
              <a:buChar char=""/>
            </a:pP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70C0"/>
                </a:solidFill>
                <a:latin typeface="Rockwell" panose="02060603020205020403" pitchFamily="18" charset="0"/>
              </a:rPr>
              <a:t>Implementation</a:t>
            </a:r>
            <a:r>
              <a:rPr lang="uk-UA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70C0"/>
                </a:solidFill>
                <a:latin typeface="Rockwell" panose="02060603020205020403" pitchFamily="18" charset="0"/>
              </a:rPr>
              <a:t> </a:t>
            </a: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70C0"/>
                </a:solidFill>
                <a:latin typeface="Rockwell" panose="02060603020205020403" pitchFamily="18" charset="0"/>
              </a:rPr>
              <a:t>of early identification</a:t>
            </a:r>
            <a:r>
              <a:rPr lang="uk-UA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70C0"/>
                </a:solidFill>
                <a:latin typeface="Rockwell" panose="02060603020205020403" pitchFamily="18" charset="0"/>
              </a:rPr>
              <a:t> </a:t>
            </a: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70C0"/>
                </a:solidFill>
                <a:latin typeface="Rockwell" panose="02060603020205020403" pitchFamily="18" charset="0"/>
              </a:rPr>
              <a:t>and prevention of disinformation</a:t>
            </a:r>
            <a:endParaRPr lang="ru-UA" sz="2800" b="1" dirty="0">
              <a:ln w="9525">
                <a:solidFill>
                  <a:schemeClr val="accent1">
                    <a:lumMod val="75000"/>
                  </a:schemeClr>
                </a:solidFill>
              </a:ln>
              <a:solidFill>
                <a:srgbClr val="0070C0"/>
              </a:solidFill>
            </a:endParaRPr>
          </a:p>
          <a:p>
            <a:pPr marL="342900" lvl="0" indent="-342900">
              <a:spcBef>
                <a:spcPts val="1800"/>
              </a:spcBef>
              <a:buFont typeface="Symbol" pitchFamily="2" charset="2"/>
              <a:buChar char=""/>
            </a:pP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70C0"/>
                </a:solidFill>
                <a:latin typeface="Rockwell" panose="02060603020205020403" pitchFamily="18" charset="0"/>
              </a:rPr>
              <a:t>Strengthening responsibility for disseminating false information</a:t>
            </a:r>
            <a:endParaRPr lang="ru-UA" sz="2800" b="1" dirty="0">
              <a:ln w="9525">
                <a:solidFill>
                  <a:schemeClr val="accent1">
                    <a:lumMod val="75000"/>
                  </a:schemeClr>
                </a:solidFill>
              </a:ln>
              <a:solidFill>
                <a:srgbClr val="0070C0"/>
              </a:solidFill>
            </a:endParaRPr>
          </a:p>
          <a:p>
            <a:pPr marL="342900" lvl="0" indent="-342900">
              <a:spcBef>
                <a:spcPts val="1800"/>
              </a:spcBef>
              <a:buFont typeface="Symbol" pitchFamily="2" charset="2"/>
              <a:buChar char=""/>
            </a:pP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70C0"/>
                </a:solidFill>
                <a:latin typeface="Rockwell" panose="02060603020205020403" pitchFamily="18" charset="0"/>
              </a:rPr>
              <a:t>Enhancing capabilities to conduct counter-disinformation operations</a:t>
            </a:r>
            <a:endParaRPr lang="ru-UA" sz="2800" b="1" dirty="0">
              <a:ln w="9525">
                <a:solidFill>
                  <a:schemeClr val="accent1">
                    <a:lumMod val="75000"/>
                  </a:schemeClr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99405-8AF6-B327-1D63-7CA3975F0DC2}"/>
              </a:ext>
            </a:extLst>
          </p:cNvPr>
          <p:cNvSpPr txBox="1"/>
          <p:nvPr/>
        </p:nvSpPr>
        <p:spPr>
          <a:xfrm>
            <a:off x="143487" y="793283"/>
            <a:ext cx="118704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800" b="1" dirty="0">
                <a:ln w="15875">
                  <a:solidFill>
                    <a:srgbClr val="0432FF"/>
                  </a:solidFill>
                </a:ln>
                <a:solidFill>
                  <a:srgbClr val="FFC000"/>
                </a:solidFill>
                <a:latin typeface="Rockwell" panose="02060603020205020403" pitchFamily="18" charset="0"/>
              </a:rPr>
              <a:t>INFORMATION SECURITY STRATEGY</a:t>
            </a:r>
          </a:p>
          <a:p>
            <a:pPr lvl="0" algn="just"/>
            <a:endParaRPr lang="en-US" sz="3600" b="1" dirty="0">
              <a:effectLst/>
              <a:latin typeface="Rockwell" panose="02060603020205020403" pitchFamily="18" charset="0"/>
              <a:ea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BDBA284C-1D8C-C69B-474B-A8FF199CF79A}"/>
                  </a:ext>
                </a:extLst>
              </p14:cNvPr>
              <p14:cNvContentPartPr/>
              <p14:nvPr/>
            </p14:nvContentPartPr>
            <p14:xfrm>
              <a:off x="6787306" y="4413089"/>
              <a:ext cx="360" cy="360"/>
            </p14:xfrm>
          </p:contentPart>
        </mc:Choice>
        <mc:Fallback xmlns=""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BDBA284C-1D8C-C69B-474B-A8FF199CF7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33306" y="4305449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70694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6E8DABCF-2292-1FEE-44EB-029BBDB514C4}"/>
              </a:ext>
            </a:extLst>
          </p:cNvPr>
          <p:cNvGrpSpPr/>
          <p:nvPr/>
        </p:nvGrpSpPr>
        <p:grpSpPr>
          <a:xfrm>
            <a:off x="-1" y="0"/>
            <a:ext cx="12192001" cy="6858000"/>
            <a:chOff x="-1" y="0"/>
            <a:chExt cx="12192001" cy="6858000"/>
          </a:xfrm>
        </p:grpSpPr>
        <p:pic>
          <p:nvPicPr>
            <p:cNvPr id="3074" name="Picture 2" descr="Ukraine flag and Russian Flag">
              <a:extLst>
                <a:ext uri="{FF2B5EF4-FFF2-40B4-BE49-F238E27FC236}">
                  <a16:creationId xmlns:a16="http://schemas.microsoft.com/office/drawing/2014/main" id="{B6FC1E1F-1A3E-B462-59BC-78DD1CBA22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alphaModFix am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9476"/>
            <a:stretch/>
          </p:blipFill>
          <p:spPr bwMode="auto">
            <a:xfrm>
              <a:off x="-1" y="0"/>
              <a:ext cx="12192001" cy="6858000"/>
            </a:xfrm>
            <a:prstGeom prst="rect">
              <a:avLst/>
            </a:prstGeom>
            <a:noFill/>
          </p:spPr>
        </p:pic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1CBDC001-B60E-7441-D559-BE011E6068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61000"/>
            </a:blip>
            <a:srcRect l="25108"/>
            <a:stretch/>
          </p:blipFill>
          <p:spPr>
            <a:xfrm>
              <a:off x="6855244" y="1993612"/>
              <a:ext cx="4230970" cy="3219361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5C4A2D1-CE1B-9D78-37BF-0318E0E3BAC1}"/>
              </a:ext>
            </a:extLst>
          </p:cNvPr>
          <p:cNvSpPr txBox="1"/>
          <p:nvPr/>
        </p:nvSpPr>
        <p:spPr>
          <a:xfrm>
            <a:off x="347260" y="1993612"/>
            <a:ext cx="6719777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00"/>
              </a:spcBef>
              <a:buFont typeface="Symbol" pitchFamily="2" charset="2"/>
              <a:buChar char=""/>
            </a:pP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70C0"/>
                </a:solidFill>
                <a:latin typeface="Rockwell" panose="02060603020205020403" pitchFamily="18" charset="0"/>
              </a:rPr>
              <a:t>Improving media literacy and public awareness to reduce public vulnerability to disinformation</a:t>
            </a:r>
          </a:p>
          <a:p>
            <a:pPr marL="342900" lvl="0" indent="-342900">
              <a:spcBef>
                <a:spcPts val="1200"/>
              </a:spcBef>
              <a:buFont typeface="Symbol" pitchFamily="2" charset="2"/>
              <a:buChar char=""/>
            </a:pPr>
            <a:r>
              <a:rPr lang="en-US" sz="2800" b="1" dirty="0">
                <a:ln w="9525">
                  <a:solidFill>
                    <a:schemeClr val="accent1">
                      <a:lumMod val="75000"/>
                    </a:schemeClr>
                  </a:solidFill>
                </a:ln>
                <a:solidFill>
                  <a:srgbClr val="0070C0"/>
                </a:solidFill>
                <a:latin typeface="Rockwell" panose="02060603020205020403" pitchFamily="18" charset="0"/>
              </a:rPr>
              <a:t>Expanding partnerships with international organizations, allies, and and civil society institutions </a:t>
            </a:r>
            <a:endParaRPr lang="ru-UA" sz="2800" b="1" dirty="0">
              <a:ln w="9525">
                <a:solidFill>
                  <a:schemeClr val="accent1">
                    <a:lumMod val="75000"/>
                  </a:schemeClr>
                </a:solidFill>
              </a:ln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899405-8AF6-B327-1D63-7CA3975F0DC2}"/>
              </a:ext>
            </a:extLst>
          </p:cNvPr>
          <p:cNvSpPr txBox="1"/>
          <p:nvPr/>
        </p:nvSpPr>
        <p:spPr>
          <a:xfrm>
            <a:off x="143487" y="793283"/>
            <a:ext cx="118704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800" b="1" dirty="0">
                <a:ln w="15875">
                  <a:solidFill>
                    <a:srgbClr val="0432FF"/>
                  </a:solidFill>
                </a:ln>
                <a:solidFill>
                  <a:srgbClr val="FFC000"/>
                </a:solidFill>
                <a:latin typeface="Rockwell" panose="02060603020205020403" pitchFamily="18" charset="0"/>
              </a:rPr>
              <a:t>INFORMATION SECURITY STRATEGY</a:t>
            </a:r>
          </a:p>
          <a:p>
            <a:pPr lvl="0" algn="just"/>
            <a:endParaRPr lang="en-US" sz="3600" b="1" dirty="0">
              <a:effectLst/>
              <a:latin typeface="Rockwell" panose="02060603020205020403" pitchFamily="18" charset="0"/>
              <a:ea typeface="Calibri" panose="020F050202020403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BDBA284C-1D8C-C69B-474B-A8FF199CF79A}"/>
                  </a:ext>
                </a:extLst>
              </p14:cNvPr>
              <p14:cNvContentPartPr/>
              <p14:nvPr/>
            </p14:nvContentPartPr>
            <p14:xfrm>
              <a:off x="6787306" y="4413089"/>
              <a:ext cx="360" cy="360"/>
            </p14:xfrm>
          </p:contentPart>
        </mc:Choice>
        <mc:Fallback xmlns=""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BDBA284C-1D8C-C69B-474B-A8FF199CF7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33306" y="4305089"/>
                <a:ext cx="108000" cy="216000"/>
              </a:xfrm>
              <a:prstGeom prst="rect">
                <a:avLst/>
              </a:prstGeom>
            </p:spPr>
          </p:pic>
        </mc:Fallback>
      </mc:AlternateContent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FCB9F1E-0224-30F4-A41A-7A0AFDF016A9}"/>
              </a:ext>
            </a:extLst>
          </p:cNvPr>
          <p:cNvCxnSpPr>
            <a:cxnSpLocks/>
          </p:cNvCxnSpPr>
          <p:nvPr/>
        </p:nvCxnSpPr>
        <p:spPr>
          <a:xfrm flipH="1">
            <a:off x="347260" y="5029200"/>
            <a:ext cx="6507984" cy="0"/>
          </a:xfrm>
          <a:prstGeom prst="line">
            <a:avLst/>
          </a:prstGeom>
          <a:ln w="28575">
            <a:solidFill>
              <a:srgbClr val="D3C5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34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D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63119-4658-4F9A-AF7B-B4FAA9E7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067"/>
            <a:ext cx="9246869" cy="1325563"/>
          </a:xfrm>
        </p:spPr>
        <p:txBody>
          <a:bodyPr>
            <a:noAutofit/>
          </a:bodyPr>
          <a:lstStyle/>
          <a:p>
            <a:pPr algn="ctr"/>
            <a:r>
              <a:rPr lang="en-US" sz="3000" b="1" dirty="0">
                <a:solidFill>
                  <a:srgbClr val="53ACD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CENTER FOR COUNTERING DISINFORMATION </a:t>
            </a:r>
            <a:br>
              <a:rPr lang="en-US" sz="3000" b="1" dirty="0">
                <a:solidFill>
                  <a:srgbClr val="53ACD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000" b="1" dirty="0">
                <a:solidFill>
                  <a:srgbClr val="53ACD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THE NATIONAL SECURITY AND DEFENSE COUNCIL </a:t>
            </a:r>
            <a:endParaRPr lang="ru-UA" sz="3000" b="1" dirty="0">
              <a:solidFill>
                <a:srgbClr val="53ACD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26160F-89EE-DA88-9E47-7ED8E4D58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" y="1294496"/>
            <a:ext cx="8252459" cy="5289184"/>
          </a:xfrm>
        </p:spPr>
        <p:txBody>
          <a:bodyPr>
            <a:normAutofit fontScale="92500" lnSpcReduction="10000"/>
          </a:bodyPr>
          <a:lstStyle/>
          <a:p>
            <a:pPr indent="0" algn="ctr">
              <a:buNone/>
            </a:pPr>
            <a:r>
              <a:rPr lang="en-US" sz="26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MAIN FUNCTIONS:</a:t>
            </a:r>
            <a:endParaRPr lang="en-US" sz="20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685800" indent="-457200" algn="just">
              <a:spcBef>
                <a:spcPts val="1600"/>
              </a:spcBef>
            </a:pPr>
            <a:r>
              <a:rPr lang="en-US" sz="26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monitoring and analysis of events and materials in media space</a:t>
            </a:r>
            <a:endParaRPr lang="ru-UA" sz="2600" b="1" dirty="0">
              <a:effectLst/>
              <a:ea typeface="Times New Roman" panose="02020603050405020304" pitchFamily="18" charset="0"/>
            </a:endParaRPr>
          </a:p>
          <a:p>
            <a:pPr marL="685800" indent="-457200" algn="just">
              <a:spcBef>
                <a:spcPts val="1600"/>
              </a:spcBef>
            </a:pPr>
            <a:r>
              <a:rPr lang="en-US" sz="26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identifying current and projected threats to information security and national interests</a:t>
            </a:r>
            <a:endParaRPr lang="ru-UA" sz="2600" b="1" dirty="0">
              <a:effectLst/>
              <a:ea typeface="Times New Roman" panose="02020603050405020304" pitchFamily="18" charset="0"/>
            </a:endParaRPr>
          </a:p>
          <a:p>
            <a:pPr marL="685800" indent="-457200" algn="just">
              <a:spcBef>
                <a:spcPts val="1600"/>
              </a:spcBef>
            </a:pPr>
            <a:r>
              <a:rPr lang="en-US" sz="26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coordination of the development of a comprehensive system of strategic communications</a:t>
            </a:r>
            <a:endParaRPr lang="ru-UA" sz="2600" b="1" dirty="0">
              <a:effectLst/>
              <a:ea typeface="Times New Roman" panose="02020603050405020304" pitchFamily="18" charset="0"/>
            </a:endParaRPr>
          </a:p>
          <a:p>
            <a:pPr marL="685800" indent="-457200" algn="just">
              <a:spcBef>
                <a:spcPts val="1600"/>
              </a:spcBef>
            </a:pPr>
            <a:r>
              <a:rPr lang="en-US" sz="26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creation of integrated system for responding to information threats</a:t>
            </a:r>
            <a:endParaRPr lang="ru-UA" sz="2600" b="1" dirty="0">
              <a:effectLst/>
              <a:ea typeface="Times New Roman" panose="02020603050405020304" pitchFamily="18" charset="0"/>
            </a:endParaRPr>
          </a:p>
          <a:p>
            <a:pPr marL="685800" indent="-457200" algn="just">
              <a:spcBef>
                <a:spcPts val="1600"/>
              </a:spcBef>
            </a:pPr>
            <a:r>
              <a:rPr lang="en-US" sz="26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developing a methodology for identifying manipulative and disinformation materials in media</a:t>
            </a:r>
            <a:endParaRPr lang="ru-UA" sz="2600" b="1" dirty="0">
              <a:effectLst/>
              <a:ea typeface="Times New Roman" panose="02020603050405020304" pitchFamily="18" charset="0"/>
            </a:endParaRPr>
          </a:p>
          <a:p>
            <a:pPr marL="685800" indent="-457200" algn="just">
              <a:spcBef>
                <a:spcPts val="1600"/>
              </a:spcBef>
            </a:pPr>
            <a:r>
              <a:rPr lang="en-US" sz="26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promoting interaction between the state and civil society institutions in countering disinformation</a:t>
            </a:r>
            <a:endParaRPr lang="ru-UA" sz="2600" b="1" dirty="0">
              <a:effectLst/>
              <a:ea typeface="Times New Roman" panose="02020603050405020304" pitchFamily="18" charset="0"/>
            </a:endParaRPr>
          </a:p>
          <a:p>
            <a:endParaRPr lang="ru-UA" dirty="0"/>
          </a:p>
        </p:txBody>
      </p:sp>
      <p:pic>
        <p:nvPicPr>
          <p:cNvPr id="2050" name="Picture 2" descr="Center for Countering Disinformation - Wikipedia">
            <a:extLst>
              <a:ext uri="{FF2B5EF4-FFF2-40B4-BE49-F238E27FC236}">
                <a16:creationId xmlns:a16="http://schemas.microsoft.com/office/drawing/2014/main" id="{308B3346-7911-0BB0-666D-3FD2E7D69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795" y="3713590"/>
            <a:ext cx="2828234" cy="2870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undefined">
            <a:extLst>
              <a:ext uri="{FF2B5EF4-FFF2-40B4-BE49-F238E27FC236}">
                <a16:creationId xmlns:a16="http://schemas.microsoft.com/office/drawing/2014/main" id="{DF15A7BA-5D56-0694-B424-FD17BD4A8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199" y="-31067"/>
            <a:ext cx="3673427" cy="3659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959932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BB7C0953-BA85-F9E3-8D90-C16BE27AAE17}"/>
              </a:ext>
            </a:extLst>
          </p:cNvPr>
          <p:cNvGrpSpPr/>
          <p:nvPr/>
        </p:nvGrpSpPr>
        <p:grpSpPr>
          <a:xfrm>
            <a:off x="0" y="43841"/>
            <a:ext cx="12192000" cy="2562199"/>
            <a:chOff x="0" y="43841"/>
            <a:chExt cx="9737942" cy="2025268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33903694-E513-7055-EFF1-A8B30AA815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50" b="86336"/>
            <a:stretch/>
          </p:blipFill>
          <p:spPr>
            <a:xfrm>
              <a:off x="0" y="43841"/>
              <a:ext cx="9737942" cy="876822"/>
            </a:xfrm>
            <a:prstGeom prst="rect">
              <a:avLst/>
            </a:prstGeom>
          </p:spPr>
        </p:pic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A119685C-EC9B-8607-9C9A-B2F878C928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9465" r="632" b="53491"/>
            <a:stretch/>
          </p:blipFill>
          <p:spPr>
            <a:xfrm>
              <a:off x="0" y="920663"/>
              <a:ext cx="9676356" cy="1148446"/>
            </a:xfrm>
            <a:prstGeom prst="rect">
              <a:avLst/>
            </a:prstGeom>
          </p:spPr>
        </p:pic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1A052D5-8B61-160B-6AEB-98025E9CAE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4328" r="32082" b="1"/>
          <a:stretch/>
        </p:blipFill>
        <p:spPr>
          <a:xfrm>
            <a:off x="7416278" y="2606040"/>
            <a:ext cx="4912730" cy="317754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1CFC359-B0A4-39B0-B6C5-C0E3E44B44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60" b="51389"/>
          <a:stretch/>
        </p:blipFill>
        <p:spPr>
          <a:xfrm>
            <a:off x="68052" y="2606040"/>
            <a:ext cx="7134112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3537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F9DA7F5D-B8A3-53E9-CC96-E429E1040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F94E5E8B-A8AE-1D21-761F-9C678E2305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32" r="510" b="11171"/>
          <a:stretch/>
        </p:blipFill>
        <p:spPr bwMode="auto">
          <a:xfrm>
            <a:off x="8138161" y="0"/>
            <a:ext cx="4053840" cy="44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A3998F59-473A-CA4F-64E6-843FA70B2251}"/>
              </a:ext>
            </a:extLst>
          </p:cNvPr>
          <p:cNvSpPr/>
          <p:nvPr/>
        </p:nvSpPr>
        <p:spPr>
          <a:xfrm>
            <a:off x="8366760" y="2880669"/>
            <a:ext cx="3691891" cy="308301"/>
          </a:xfrm>
          <a:prstGeom prst="roundRect">
            <a:avLst/>
          </a:prstGeom>
          <a:solidFill>
            <a:schemeClr val="accent1">
              <a:alpha val="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6FF046F-DA33-7A19-7BCE-B30977031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813" y="0"/>
            <a:ext cx="3542347" cy="446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28D3482-17CE-B71A-72CB-6E87F35D82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34" y="914400"/>
            <a:ext cx="3624206" cy="369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06155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BB7C0953-BA85-F9E3-8D90-C16BE27AAE17}"/>
              </a:ext>
            </a:extLst>
          </p:cNvPr>
          <p:cNvGrpSpPr/>
          <p:nvPr/>
        </p:nvGrpSpPr>
        <p:grpSpPr>
          <a:xfrm>
            <a:off x="0" y="71658"/>
            <a:ext cx="12192000" cy="1876401"/>
            <a:chOff x="0" y="43841"/>
            <a:chExt cx="9737942" cy="1483185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33903694-E513-7055-EFF1-A8B30AA815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50" b="86336"/>
            <a:stretch/>
          </p:blipFill>
          <p:spPr>
            <a:xfrm>
              <a:off x="0" y="43841"/>
              <a:ext cx="9737942" cy="876822"/>
            </a:xfrm>
            <a:prstGeom prst="rect">
              <a:avLst/>
            </a:prstGeom>
          </p:spPr>
        </p:pic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A119685C-EC9B-8607-9C9A-B2F878C928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9465" r="632" b="61536"/>
            <a:stretch/>
          </p:blipFill>
          <p:spPr>
            <a:xfrm>
              <a:off x="0" y="920664"/>
              <a:ext cx="9676356" cy="606362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CE270AA-985B-018B-067B-13ECD8A8A535}"/>
              </a:ext>
            </a:extLst>
          </p:cNvPr>
          <p:cNvSpPr txBox="1"/>
          <p:nvPr/>
        </p:nvSpPr>
        <p:spPr>
          <a:xfrm>
            <a:off x="77106" y="1856620"/>
            <a:ext cx="10438544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540385" algn="just"/>
            <a:endParaRPr lang="en-US" sz="2400" b="1" dirty="0">
              <a:solidFill>
                <a:srgbClr val="000000"/>
              </a:solidFill>
              <a:effectLst/>
              <a:ea typeface="Calibri" panose="020F0502020204030204" pitchFamily="34" charset="0"/>
              <a:cs typeface="APPLE CHANCERY" panose="03020702040506060504" pitchFamily="66" charset="-79"/>
            </a:endParaRPr>
          </a:p>
          <a:p>
            <a:pPr indent="540385" algn="just"/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ACTIVITIES OF THE CENTER (COVERAGE):</a:t>
            </a:r>
          </a:p>
          <a:p>
            <a:pPr indent="540385" algn="just"/>
            <a:endParaRPr lang="en-US" sz="2400" b="1" dirty="0">
              <a:solidFill>
                <a:srgbClr val="000000"/>
              </a:solidFill>
              <a:effectLst/>
              <a:ea typeface="Calibri" panose="020F0502020204030204" pitchFamily="34" charset="0"/>
              <a:cs typeface="APPLE CHANCERY" panose="03020702040506060504" pitchFamily="66" charset="-79"/>
            </a:endParaRPr>
          </a:p>
          <a:p>
            <a:pPr indent="540385" algn="just"/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150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 TikTok channels</a:t>
            </a:r>
            <a:endParaRPr lang="ru-UA" sz="2400" b="1" dirty="0">
              <a:effectLst/>
              <a:ea typeface="Times New Roman" panose="02020603050405020304" pitchFamily="18" charset="0"/>
              <a:cs typeface="APPLE CHANCERY" panose="03020702040506060504" pitchFamily="66" charset="-79"/>
            </a:endParaRPr>
          </a:p>
          <a:p>
            <a:pPr indent="540385" algn="just"/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101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 YouTube channels</a:t>
            </a:r>
            <a:endParaRPr lang="ru-UA" sz="2400" b="1" dirty="0">
              <a:effectLst/>
              <a:ea typeface="Times New Roman" panose="02020603050405020304" pitchFamily="18" charset="0"/>
              <a:cs typeface="APPLE CHANCERY" panose="03020702040506060504" pitchFamily="66" charset="-79"/>
            </a:endParaRPr>
          </a:p>
          <a:p>
            <a:pPr indent="540385" algn="just"/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280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 Facebook accounts</a:t>
            </a:r>
            <a:endParaRPr lang="ru-UA" sz="2400" b="1" dirty="0">
              <a:effectLst/>
              <a:ea typeface="Times New Roman" panose="02020603050405020304" pitchFamily="18" charset="0"/>
              <a:cs typeface="APPLE CHANCERY" panose="03020702040506060504" pitchFamily="66" charset="-79"/>
            </a:endParaRPr>
          </a:p>
          <a:p>
            <a:pPr indent="540385" algn="just"/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449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 Telegram channels</a:t>
            </a:r>
            <a:endParaRPr lang="ru-UA" sz="2400" b="1" dirty="0">
              <a:effectLst/>
              <a:ea typeface="Times New Roman" panose="02020603050405020304" pitchFamily="18" charset="0"/>
              <a:cs typeface="APPLE CHANCERY" panose="03020702040506060504" pitchFamily="66" charset="-79"/>
            </a:endParaRPr>
          </a:p>
          <a:p>
            <a:pPr indent="540385" algn="just"/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156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 foreign internet resources</a:t>
            </a:r>
            <a:endParaRPr lang="ru-UA" sz="2400" b="1" dirty="0">
              <a:effectLst/>
              <a:ea typeface="Times New Roman" panose="02020603050405020304" pitchFamily="18" charset="0"/>
              <a:cs typeface="APPLE CHANCERY" panose="03020702040506060504" pitchFamily="66" charset="-79"/>
            </a:endParaRPr>
          </a:p>
          <a:p>
            <a:pPr indent="540385" algn="just"/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resources of </a:t>
            </a: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296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 different organizations</a:t>
            </a:r>
            <a:endParaRPr lang="ru-UA" sz="2400" b="1" dirty="0">
              <a:effectLst/>
              <a:ea typeface="Times New Roman" panose="02020603050405020304" pitchFamily="18" charset="0"/>
              <a:cs typeface="APPLE CHANCERY" panose="03020702040506060504" pitchFamily="66" charset="-79"/>
            </a:endParaRPr>
          </a:p>
          <a:p>
            <a:pPr indent="540385" algn="just"/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812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 speakers who disseminate </a:t>
            </a:r>
          </a:p>
          <a:p>
            <a:pPr indent="540385" algn="just"/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disinformation in Ukrainian, Russian, German </a:t>
            </a:r>
          </a:p>
          <a:p>
            <a:pPr indent="540385" algn="just"/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PPLE CHANCERY" panose="03020702040506060504" pitchFamily="66" charset="-79"/>
              </a:rPr>
              <a:t>and English.</a:t>
            </a:r>
            <a:endParaRPr lang="ru-UA" sz="2400" b="1" dirty="0">
              <a:effectLst/>
              <a:ea typeface="Times New Roman" panose="02020603050405020304" pitchFamily="18" charset="0"/>
              <a:cs typeface="APPLE CHANCERY" panose="03020702040506060504" pitchFamily="66" charset="-79"/>
            </a:endParaRPr>
          </a:p>
        </p:txBody>
      </p:sp>
      <p:pic>
        <p:nvPicPr>
          <p:cNvPr id="1038" name="Picture 14" descr="Latest updated social media or social network apps icon set, X, Threads,Instagram, Facebook, YouTube, Tik Tok, Pinterest, WhatsApp, LinkedIn, Telegram, Snapchat, Viber, Twitter, Zoom vector bundle  cover image.">
            <a:extLst>
              <a:ext uri="{FF2B5EF4-FFF2-40B4-BE49-F238E27FC236}">
                <a16:creationId xmlns:a16="http://schemas.microsoft.com/office/drawing/2014/main" id="{E1D361AF-7F68-5A3D-3A1D-1BD79B6A8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300" y="2039498"/>
            <a:ext cx="4285797" cy="428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89034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4C6405-568B-6D24-9538-A63883D94149}"/>
              </a:ext>
            </a:extLst>
          </p:cNvPr>
          <p:cNvSpPr txBox="1"/>
          <p:nvPr/>
        </p:nvSpPr>
        <p:spPr>
          <a:xfrm>
            <a:off x="708585" y="3282146"/>
            <a:ext cx="69151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Rockwell" panose="02060603020205020403" pitchFamily="18" charset="0"/>
              </a:rPr>
              <a:t>lack of administrative powers </a:t>
            </a:r>
            <a:endParaRPr lang="uk-UA" sz="3200" b="1" dirty="0">
              <a:solidFill>
                <a:srgbClr val="C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Rockwell" panose="02060603020205020403" pitchFamily="18" charset="0"/>
              </a:rPr>
              <a:t>insufficient coordination with other government bodies</a:t>
            </a:r>
            <a:endParaRPr lang="uk-UA" sz="3200" b="1" dirty="0">
              <a:solidFill>
                <a:srgbClr val="C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Rockwell" panose="02060603020205020403" pitchFamily="18" charset="0"/>
              </a:rPr>
              <a:t>limited resources</a:t>
            </a:r>
            <a:endParaRPr lang="uk-UA" sz="3200" b="1" dirty="0">
              <a:solidFill>
                <a:srgbClr val="C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Rockwell" panose="02060603020205020403" pitchFamily="18" charset="0"/>
              </a:rPr>
              <a:t>low transparency</a:t>
            </a:r>
            <a:endParaRPr lang="ru-UA" sz="3200" b="1" dirty="0">
              <a:solidFill>
                <a:srgbClr val="C00000"/>
              </a:solidFill>
            </a:endParaRPr>
          </a:p>
        </p:txBody>
      </p:sp>
      <p:pic>
        <p:nvPicPr>
          <p:cNvPr id="6" name="Picture 2" descr="Center for Countering Disinformation - Wikipedia">
            <a:extLst>
              <a:ext uri="{FF2B5EF4-FFF2-40B4-BE49-F238E27FC236}">
                <a16:creationId xmlns:a16="http://schemas.microsoft.com/office/drawing/2014/main" id="{5D4F1ABE-2AD7-C084-3B17-AA1377290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4085" y="2201056"/>
            <a:ext cx="3582615" cy="3635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F96422-6363-E5B1-669B-D5E4E05A7A1D}"/>
              </a:ext>
            </a:extLst>
          </p:cNvPr>
          <p:cNvSpPr txBox="1"/>
          <p:nvPr/>
        </p:nvSpPr>
        <p:spPr>
          <a:xfrm>
            <a:off x="705496" y="1130012"/>
            <a:ext cx="53935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Rockwell" panose="02060603020205020403" pitchFamily="18" charset="0"/>
              </a:rPr>
              <a:t>THE CENTER FOR COUNTERING DISINFORMATION </a:t>
            </a:r>
            <a:endParaRPr lang="ru-UA" sz="3200" b="1" dirty="0">
              <a:solidFill>
                <a:srgbClr val="C00000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7A2A86A-6EEB-F464-60F7-47F186879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630" y="80011"/>
            <a:ext cx="5923420" cy="350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0156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88FD71-C91F-F617-CE87-D994DA21E178}"/>
              </a:ext>
            </a:extLst>
          </p:cNvPr>
          <p:cNvSpPr txBox="1"/>
          <p:nvPr/>
        </p:nvSpPr>
        <p:spPr>
          <a:xfrm>
            <a:off x="2514599" y="644216"/>
            <a:ext cx="919793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dirty="0">
                <a:solidFill>
                  <a:srgbClr val="333333"/>
                </a:solidFill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Criminal Code of Ukraine: Art 436-2</a:t>
            </a:r>
            <a:endParaRPr lang="ru-UA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UA" sz="2800" b="1" kern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UA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2800" b="1" kern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…</a:t>
            </a:r>
            <a:endParaRPr lang="ru-UA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2800" b="1" kern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…</a:t>
            </a:r>
            <a:endParaRPr lang="ru-UA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ru-UA" sz="2800" b="1" kern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Justification, recognition as lawful, denial of the armed aggression of the Russian Federation against Ukraine, glorification of its participants, committed </a:t>
            </a:r>
            <a:r>
              <a:rPr lang="ru-UA" sz="2800" b="1" kern="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with the use of mass media</a:t>
            </a:r>
            <a:r>
              <a:rPr lang="ru-UA" sz="2800" b="1" kern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, -</a:t>
            </a:r>
            <a:endParaRPr lang="ru-UA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/>
            <a:r>
              <a:rPr lang="ru-UA" sz="2800" b="1" i="1" kern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shall be punished by </a:t>
            </a:r>
            <a:r>
              <a:rPr lang="ru-UA" sz="2800" b="1" i="1" kern="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imprisonment for a term of 5 to 8 years with or without confiscation of property.</a:t>
            </a:r>
            <a:endParaRPr lang="ru-UA" sz="2800" i="1" kern="1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8737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88FD71-C91F-F617-CE87-D994DA21E178}"/>
              </a:ext>
            </a:extLst>
          </p:cNvPr>
          <p:cNvSpPr txBox="1"/>
          <p:nvPr/>
        </p:nvSpPr>
        <p:spPr>
          <a:xfrm>
            <a:off x="2709808" y="633617"/>
            <a:ext cx="981439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dirty="0">
                <a:solidFill>
                  <a:srgbClr val="333333"/>
                </a:solidFill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Art. 436-2 Criminal </a:t>
            </a:r>
            <a:r>
              <a:rPr lang="en-US" sz="3600" b="1" kern="0" dirty="0">
                <a:solidFill>
                  <a:srgbClr val="333333"/>
                </a:solidFill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of Ukraine:</a:t>
            </a:r>
          </a:p>
          <a:p>
            <a:r>
              <a:rPr lang="en-US" sz="3600" b="1" kern="0" dirty="0">
                <a:solidFill>
                  <a:srgbClr val="333333"/>
                </a:solidFill>
                <a:latin typeface="Rockwell" panose="02060603020205020403" pitchFamily="18" charset="0"/>
                <a:cs typeface="Times New Roman" panose="02020603050405020304" pitchFamily="18" charset="0"/>
              </a:rPr>
              <a:t>practice of application (2022-2026)</a:t>
            </a:r>
          </a:p>
          <a:p>
            <a:endParaRPr lang="en-US" sz="3600" b="1" kern="0" dirty="0">
              <a:solidFill>
                <a:srgbClr val="333333"/>
              </a:solidFill>
              <a:effectLst/>
              <a:latin typeface="Rockwell" panose="020606030202050204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2,500 cases </a:t>
            </a:r>
            <a:r>
              <a:rPr lang="en-US" sz="3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opened</a:t>
            </a:r>
          </a:p>
          <a:p>
            <a:pPr>
              <a:spcBef>
                <a:spcPts val="600"/>
              </a:spcBef>
            </a:pPr>
            <a:r>
              <a:rPr lang="en-US" sz="3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1,200 individuals formally charged</a:t>
            </a:r>
          </a:p>
          <a:p>
            <a:pPr>
              <a:spcBef>
                <a:spcPts val="600"/>
              </a:spcBef>
            </a:pPr>
            <a:r>
              <a:rPr lang="en-US" sz="3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539 court verdicts have been issued</a:t>
            </a:r>
          </a:p>
          <a:p>
            <a:pPr>
              <a:spcBef>
                <a:spcPts val="600"/>
              </a:spcBef>
            </a:pPr>
            <a:r>
              <a:rPr lang="en-US" sz="32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33 convictions specifically concerning offenses committed through mass media. These cases typically involve popular social media platforms such as Facebook, TikTok, Telegram, and others.</a:t>
            </a:r>
            <a:endParaRPr lang="ru-UA" sz="3200" b="1" dirty="0">
              <a:solidFill>
                <a:srgbClr val="C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ru-UA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145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88FD71-C91F-F617-CE87-D994DA21E178}"/>
              </a:ext>
            </a:extLst>
          </p:cNvPr>
          <p:cNvSpPr txBox="1"/>
          <p:nvPr/>
        </p:nvSpPr>
        <p:spPr>
          <a:xfrm>
            <a:off x="2126750" y="643891"/>
            <a:ext cx="985291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kern="0" dirty="0">
                <a:solidFill>
                  <a:srgbClr val="333333"/>
                </a:solidFill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Art. 436-2 Criminal </a:t>
            </a:r>
            <a:r>
              <a:rPr lang="en-US" sz="3600" b="1" kern="0" dirty="0">
                <a:solidFill>
                  <a:srgbClr val="333333"/>
                </a:solidFill>
                <a:effectLst/>
                <a:latin typeface="Rockwell" panose="020606030202050204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Code of Ukraine:</a:t>
            </a:r>
          </a:p>
          <a:p>
            <a:r>
              <a:rPr lang="en-US" sz="3600" b="1" kern="0" dirty="0">
                <a:solidFill>
                  <a:srgbClr val="C00000"/>
                </a:solidFill>
                <a:latin typeface="Rockwell" panose="02060603020205020403" pitchFamily="18" charset="0"/>
                <a:cs typeface="Times New Roman" panose="02020603050405020304" pitchFamily="18" charset="0"/>
              </a:rPr>
              <a:t>the issues</a:t>
            </a:r>
            <a:r>
              <a:rPr lang="en-US" sz="3600" b="1" kern="0" dirty="0">
                <a:solidFill>
                  <a:srgbClr val="333333"/>
                </a:solidFill>
                <a:latin typeface="Rockwell" panose="02060603020205020403" pitchFamily="18" charset="0"/>
                <a:cs typeface="Times New Roman" panose="02020603050405020304" pitchFamily="18" charset="0"/>
              </a:rPr>
              <a:t> of application (2022-2026)</a:t>
            </a:r>
          </a:p>
          <a:p>
            <a:endParaRPr lang="en-US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collision 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with Art. 111-1 of Criminal Code “Collaborationism”, which criminalizes </a:t>
            </a:r>
            <a:r>
              <a:rPr lang="en-US" sz="2400" b="1" i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“public denial of the armed aggression against Ukraine by a Ukrainian citizen, </a:t>
            </a:r>
            <a:r>
              <a:rPr lang="en-US" sz="24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including through the Internet </a:t>
            </a:r>
            <a:r>
              <a:rPr lang="en-US" sz="24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mass media</a:t>
            </a:r>
            <a:r>
              <a:rPr lang="en-US" sz="2400" b="1" i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harmful disinformation forms </a:t>
            </a: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are not covered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ineffective enforcement against anonymous or foreign-based actors</a:t>
            </a:r>
            <a:r>
              <a:rPr lang="ru-UA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 clear distinction between accidental, mistaken, and intentional disinformation</a:t>
            </a:r>
            <a:endParaRPr lang="ru-UA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24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EEAE82DF-A314-BBF1-14B4-CD73B5BF5A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UA"/>
          </a:p>
        </p:txBody>
      </p:sp>
      <p:pic>
        <p:nvPicPr>
          <p:cNvPr id="5" name="Picture 2" descr="Threat Detection">
            <a:extLst>
              <a:ext uri="{FF2B5EF4-FFF2-40B4-BE49-F238E27FC236}">
                <a16:creationId xmlns:a16="http://schemas.microsoft.com/office/drawing/2014/main" id="{703572AF-5C6C-9476-0415-E020E8E20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306285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76909C9-DF4B-CDEB-7118-09E4E1CF7660}"/>
              </a:ext>
            </a:extLst>
          </p:cNvPr>
          <p:cNvSpPr/>
          <p:nvPr/>
        </p:nvSpPr>
        <p:spPr>
          <a:xfrm>
            <a:off x="523982" y="246580"/>
            <a:ext cx="1952090" cy="575353"/>
          </a:xfrm>
          <a:prstGeom prst="rect">
            <a:avLst/>
          </a:prstGeom>
          <a:solidFill>
            <a:srgbClr val="0E1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51583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A6FD276-E8AA-8412-260C-814627251F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443"/>
          <a:stretch/>
        </p:blipFill>
        <p:spPr>
          <a:xfrm>
            <a:off x="0" y="0"/>
            <a:ext cx="10663881" cy="6863207"/>
          </a:xfrm>
          <a:prstGeom prst="rect">
            <a:avLst/>
          </a:prstGeom>
        </p:spPr>
      </p:pic>
      <p:sp>
        <p:nvSpPr>
          <p:cNvPr id="2" name="Овал 1">
            <a:extLst>
              <a:ext uri="{FF2B5EF4-FFF2-40B4-BE49-F238E27FC236}">
                <a16:creationId xmlns:a16="http://schemas.microsoft.com/office/drawing/2014/main" id="{E3ECA2E9-3B1F-5020-6CF0-395671157ED5}"/>
              </a:ext>
            </a:extLst>
          </p:cNvPr>
          <p:cNvSpPr/>
          <p:nvPr/>
        </p:nvSpPr>
        <p:spPr>
          <a:xfrm rot="20738667">
            <a:off x="1220499" y="794988"/>
            <a:ext cx="2860876" cy="842942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08800272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Що таке рубрика «Фактчеки»?">
            <a:extLst>
              <a:ext uri="{FF2B5EF4-FFF2-40B4-BE49-F238E27FC236}">
                <a16:creationId xmlns:a16="http://schemas.microsoft.com/office/drawing/2014/main" id="{947B5E18-D935-4B70-9E59-DB2D8DFC3C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8857"/>
            <a:ext cx="12473940" cy="6966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enter for Countering Disinformation - Wikipedia">
            <a:extLst>
              <a:ext uri="{FF2B5EF4-FFF2-40B4-BE49-F238E27FC236}">
                <a16:creationId xmlns:a16="http://schemas.microsoft.com/office/drawing/2014/main" id="{70AFF5C8-1CCB-AE9D-327E-C21587E1D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7" y="8304"/>
            <a:ext cx="1723286" cy="174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78F771-F231-C289-3ABC-78613C44C345}"/>
              </a:ext>
            </a:extLst>
          </p:cNvPr>
          <p:cNvSpPr txBox="1"/>
          <p:nvPr/>
        </p:nvSpPr>
        <p:spPr>
          <a:xfrm>
            <a:off x="224790" y="4510209"/>
            <a:ext cx="119672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0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Between </a:t>
            </a:r>
            <a:r>
              <a:rPr lang="en-US" sz="2400" b="1" dirty="0">
                <a:solidFill>
                  <a:srgbClr val="C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2023-202</a:t>
            </a:r>
            <a:r>
              <a:rPr lang="uk-UA" sz="2400" b="1" dirty="0">
                <a:solidFill>
                  <a:srgbClr val="C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6</a:t>
            </a:r>
            <a:r>
              <a:rPr lang="en-US" sz="2400" b="1" dirty="0">
                <a:solidFill>
                  <a:srgbClr val="0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, a total of </a:t>
            </a:r>
            <a:r>
              <a:rPr lang="uk-UA" sz="2400" b="1" dirty="0">
                <a:solidFill>
                  <a:srgbClr val="C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9</a:t>
            </a:r>
            <a:r>
              <a:rPr lang="en-US" sz="2400" b="1" dirty="0">
                <a:solidFill>
                  <a:srgbClr val="C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50 fact-checks </a:t>
            </a:r>
            <a:r>
              <a:rPr lang="en-US" sz="2400" b="1" dirty="0">
                <a:solidFill>
                  <a:srgbClr val="0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were published in Ukrainian and English</a:t>
            </a:r>
          </a:p>
          <a:p>
            <a:pPr algn="just"/>
            <a:endParaRPr lang="uk-UA" sz="2400" b="1" dirty="0">
              <a:solidFill>
                <a:srgbClr val="000000"/>
              </a:solidFill>
              <a:ea typeface="Apple Symbols" panose="02000000000000000000" pitchFamily="2" charset="-79"/>
              <a:cs typeface="Dubai" panose="020B0503030403030204" pitchFamily="34" charset="-78"/>
            </a:endParaRPr>
          </a:p>
          <a:p>
            <a:pPr algn="just"/>
            <a:r>
              <a:rPr lang="en-US" sz="2400" b="1" dirty="0">
                <a:solidFill>
                  <a:srgbClr val="C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Every week </a:t>
            </a:r>
            <a:r>
              <a:rPr lang="en-US" sz="2400" b="1" dirty="0"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the Center:</a:t>
            </a:r>
            <a:endParaRPr lang="uk-UA" sz="2400" b="1" dirty="0">
              <a:latin typeface="Dubai" panose="020B0503030403030204" pitchFamily="34" charset="-78"/>
              <a:ea typeface="Apple Symbols" panose="02000000000000000000" pitchFamily="2" charset="-79"/>
              <a:cs typeface="Dubai" panose="020B0503030403030204" pitchFamily="34" charset="-78"/>
            </a:endParaRPr>
          </a:p>
          <a:p>
            <a:pPr algn="just"/>
            <a:r>
              <a:rPr lang="uk-UA" sz="2400" b="1" dirty="0">
                <a:solidFill>
                  <a:srgbClr val="0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	</a:t>
            </a:r>
            <a:r>
              <a:rPr lang="en-US" sz="2400" b="1" dirty="0">
                <a:solidFill>
                  <a:srgbClr val="0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registers around </a:t>
            </a:r>
            <a:r>
              <a:rPr lang="uk-UA" sz="2400" b="1" dirty="0">
                <a:solidFill>
                  <a:srgbClr val="C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3</a:t>
            </a:r>
            <a:r>
              <a:rPr lang="en-US" sz="2400" b="1" dirty="0">
                <a:solidFill>
                  <a:srgbClr val="C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00 destructive informational messages</a:t>
            </a:r>
            <a:endParaRPr lang="en-US" sz="2400" b="1" dirty="0">
              <a:solidFill>
                <a:srgbClr val="000000"/>
              </a:solidFill>
              <a:effectLst/>
              <a:latin typeface="Dubai" panose="020B0503030403030204" pitchFamily="34" charset="-78"/>
              <a:ea typeface="Apple Symbols" panose="02000000000000000000" pitchFamily="2" charset="-79"/>
              <a:cs typeface="Dubai" panose="020B0503030403030204" pitchFamily="34" charset="-78"/>
            </a:endParaRPr>
          </a:p>
          <a:p>
            <a:pPr algn="just"/>
            <a:r>
              <a:rPr lang="uk-UA" sz="2400" b="1" dirty="0">
                <a:solidFill>
                  <a:srgbClr val="0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	</a:t>
            </a:r>
            <a:r>
              <a:rPr lang="en-US" sz="2400" b="1" dirty="0">
                <a:solidFill>
                  <a:srgbClr val="0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issues about </a:t>
            </a:r>
            <a:r>
              <a:rPr lang="en-US" sz="2400" b="1" dirty="0">
                <a:solidFill>
                  <a:srgbClr val="C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1</a:t>
            </a:r>
            <a:r>
              <a:rPr lang="uk-UA" sz="2400" b="1" dirty="0">
                <a:solidFill>
                  <a:srgbClr val="C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5</a:t>
            </a:r>
            <a:r>
              <a:rPr lang="en-US" sz="2400" b="1" dirty="0">
                <a:solidFill>
                  <a:srgbClr val="C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 digests </a:t>
            </a:r>
            <a:r>
              <a:rPr lang="en-US" sz="2400" b="1" dirty="0">
                <a:solidFill>
                  <a:srgbClr val="0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summarizing monitoring outcomes of key events</a:t>
            </a:r>
          </a:p>
          <a:p>
            <a:pPr algn="just"/>
            <a:r>
              <a:rPr lang="uk-UA" sz="2400" b="1" dirty="0">
                <a:solidFill>
                  <a:srgbClr val="0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	</a:t>
            </a:r>
            <a:r>
              <a:rPr lang="en-US" sz="2400" b="1" dirty="0">
                <a:solidFill>
                  <a:srgbClr val="0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distributes </a:t>
            </a:r>
            <a:r>
              <a:rPr lang="uk-UA" sz="2400" b="1" dirty="0">
                <a:solidFill>
                  <a:srgbClr val="C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10</a:t>
            </a:r>
            <a:r>
              <a:rPr lang="en-US" sz="2400" b="1" dirty="0">
                <a:solidFill>
                  <a:srgbClr val="C00000"/>
                </a:solidFill>
                <a:effectLst/>
                <a:latin typeface="Dubai" panose="020B0503030403030204" pitchFamily="34" charset="-78"/>
                <a:ea typeface="Apple Symbols" panose="02000000000000000000" pitchFamily="2" charset="-79"/>
                <a:cs typeface="Dubai" panose="020B0503030403030204" pitchFamily="34" charset="-78"/>
              </a:rPr>
              <a:t> information response cards</a:t>
            </a:r>
            <a:endParaRPr lang="ru-UA" sz="2400" b="1" dirty="0">
              <a:effectLst/>
              <a:ea typeface="Apple Symbols" panose="02000000000000000000" pitchFamily="2" charset="-79"/>
              <a:cs typeface="Dubai" panose="020B0503030403030204" pitchFamily="34" charset="-78"/>
            </a:endParaRPr>
          </a:p>
          <a:p>
            <a:pPr indent="540385" algn="just"/>
            <a:endParaRPr lang="ru-UA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FABDA0-DA5C-05F0-15C1-13FACC5EC4FE}"/>
              </a:ext>
            </a:extLst>
          </p:cNvPr>
          <p:cNvSpPr txBox="1"/>
          <p:nvPr/>
        </p:nvSpPr>
        <p:spPr>
          <a:xfrm>
            <a:off x="1816653" y="2768"/>
            <a:ext cx="48241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effectLst/>
                <a:latin typeface="Rockwell" panose="020606030202050204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THE CENTER FOR COUNTERING DISINFORMATION </a:t>
            </a:r>
            <a:endParaRPr lang="ru-UA" sz="3600" dirty="0"/>
          </a:p>
        </p:txBody>
      </p:sp>
    </p:spTree>
    <p:extLst>
      <p:ext uri="{BB962C8B-B14F-4D97-AF65-F5344CB8AC3E}">
        <p14:creationId xmlns:p14="http://schemas.microsoft.com/office/powerpoint/2010/main" val="56336856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D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4C6405-568B-6D24-9538-A63883D94149}"/>
              </a:ext>
            </a:extLst>
          </p:cNvPr>
          <p:cNvSpPr txBox="1"/>
          <p:nvPr/>
        </p:nvSpPr>
        <p:spPr>
          <a:xfrm>
            <a:off x="702406" y="3305006"/>
            <a:ext cx="11430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Rockwell" panose="02060603020205020403" pitchFamily="18" charset="0"/>
              </a:rPr>
              <a:t>based on manual monitoring</a:t>
            </a:r>
            <a:endParaRPr lang="ru-UA" sz="3200" b="1" dirty="0">
              <a:solidFill>
                <a:srgbClr val="C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Rockwell" panose="02060603020205020403" pitchFamily="18" charset="0"/>
              </a:rPr>
              <a:t>no coordination structure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Rockwell" panose="02060603020205020403" pitchFamily="18" charset="0"/>
              </a:rPr>
              <a:t>slow implementation of AI and machine learning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Rockwell" panose="02060603020205020403" pitchFamily="18" charset="0"/>
              </a:rPr>
              <a:t>no unified platform for real-time data collection and analysis</a:t>
            </a:r>
            <a:endParaRPr lang="ru-UA" sz="3200" b="1" dirty="0">
              <a:solidFill>
                <a:srgbClr val="C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Rockwell" panose="02060603020205020403" pitchFamily="18" charset="0"/>
              </a:rPr>
              <a:t>no effective links with the private sector</a:t>
            </a:r>
            <a:endParaRPr lang="ru-UA" sz="3200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F96422-6363-E5B1-669B-D5E4E05A7A1D}"/>
              </a:ext>
            </a:extLst>
          </p:cNvPr>
          <p:cNvSpPr txBox="1"/>
          <p:nvPr/>
        </p:nvSpPr>
        <p:spPr>
          <a:xfrm>
            <a:off x="834390" y="585691"/>
            <a:ext cx="62865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Rockwell" panose="02060603020205020403" pitchFamily="18" charset="0"/>
              </a:rPr>
              <a:t>THE SYSTEM FOR EARLY DETECTION, FORECASTING, AND PREVENTION OF HYBRID THREATS</a:t>
            </a:r>
            <a:r>
              <a:rPr lang="ru-UA" sz="3200" b="1" dirty="0"/>
              <a:t> </a:t>
            </a:r>
            <a:r>
              <a:rPr lang="en-US" sz="3200" b="1" dirty="0">
                <a:latin typeface="Rockwell" panose="02060603020205020403" pitchFamily="18" charset="0"/>
              </a:rPr>
              <a:t> </a:t>
            </a:r>
            <a:endParaRPr lang="ru-UA" sz="3200" b="1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6AFBCF1-57E4-82D9-6B11-4713F9E0B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8990" y="0"/>
            <a:ext cx="3728061" cy="3233487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0E758F0A-E465-734A-BC02-58F0FA2D2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640" y="1339283"/>
            <a:ext cx="41783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04835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9400169-4150-D010-CA21-8499658A1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336550"/>
            <a:ext cx="10414000" cy="618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02AD05-D425-BE20-3BDF-6B5CC17D26CE}"/>
              </a:ext>
            </a:extLst>
          </p:cNvPr>
          <p:cNvSpPr txBox="1"/>
          <p:nvPr/>
        </p:nvSpPr>
        <p:spPr>
          <a:xfrm>
            <a:off x="1716881" y="1595735"/>
            <a:ext cx="75753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</a:rPr>
              <a:t>Modern challenges for countering disinformation</a:t>
            </a:r>
            <a:endParaRPr lang="ru-UA" sz="4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F9703-EC61-0402-88EE-61D5FF470EE2}"/>
              </a:ext>
            </a:extLst>
          </p:cNvPr>
          <p:cNvSpPr txBox="1"/>
          <p:nvPr/>
        </p:nvSpPr>
        <p:spPr>
          <a:xfrm>
            <a:off x="1416922" y="3287792"/>
            <a:ext cx="9567308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1800"/>
              </a:spcBef>
              <a:buFont typeface="Symbol" pitchFamily="2" charset="2"/>
              <a:buChar char=""/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spreading disinformation by networks and messaging apps (reduced control over closed groups, Telegram channels, and private chats)</a:t>
            </a:r>
            <a:r>
              <a:rPr lang="ru-UA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lvl="0" indent="-342900" algn="just">
              <a:spcBef>
                <a:spcPts val="1800"/>
              </a:spcBef>
              <a:buFont typeface="Symbol" pitchFamily="2" charset="2"/>
              <a:buChar char=""/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wide usage 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anonymous, encrypted channels and networks </a:t>
            </a:r>
          </a:p>
          <a:p>
            <a:pPr marL="342900" lvl="0" indent="-342900" algn="just">
              <a:spcBef>
                <a:spcPts val="1800"/>
              </a:spcBef>
              <a:buFont typeface="Symbol" pitchFamily="2" charset="2"/>
              <a:buChar char=""/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gamification and emotional manipulation in disinformation campaigns </a:t>
            </a:r>
          </a:p>
          <a:p>
            <a:pPr marL="342900" lvl="0" indent="-342900" algn="just">
              <a:buFont typeface="Symbol" pitchFamily="2" charset="2"/>
              <a:buChar char=""/>
            </a:pP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7845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9400169-4150-D010-CA21-8499658A1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0" y="336550"/>
            <a:ext cx="10414000" cy="618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02AD05-D425-BE20-3BDF-6B5CC17D26CE}"/>
              </a:ext>
            </a:extLst>
          </p:cNvPr>
          <p:cNvSpPr txBox="1"/>
          <p:nvPr/>
        </p:nvSpPr>
        <p:spPr>
          <a:xfrm>
            <a:off x="1716881" y="1595735"/>
            <a:ext cx="75753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</a:rPr>
              <a:t>Modern challenges for countering disinformation</a:t>
            </a:r>
            <a:endParaRPr lang="ru-UA" sz="4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F9703-EC61-0402-88EE-61D5FF470EE2}"/>
              </a:ext>
            </a:extLst>
          </p:cNvPr>
          <p:cNvSpPr txBox="1"/>
          <p:nvPr/>
        </p:nvSpPr>
        <p:spPr>
          <a:xfrm>
            <a:off x="1428352" y="3250679"/>
            <a:ext cx="9578738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Symbol" pitchFamily="2" charset="2"/>
              <a:buChar char=""/>
            </a:pP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wide usage </a:t>
            </a: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AI in generating fake informational content </a:t>
            </a:r>
            <a:endParaRPr lang="ru-UA" sz="2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1800"/>
              </a:spcBef>
              <a:buFont typeface="Symbol" pitchFamily="2" charset="2"/>
              <a:buChar char="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accelerated growth and proliferation of deepfake technologies</a:t>
            </a:r>
            <a:endParaRPr lang="uk-UA" sz="2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spcBef>
                <a:spcPts val="1800"/>
              </a:spcBef>
              <a:buFont typeface="Symbol" pitchFamily="2" charset="2"/>
              <a:buChar char="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enerating of fake news by automated websites and aggregators </a:t>
            </a:r>
          </a:p>
          <a:p>
            <a:pPr marL="342900" lvl="0" indent="-342900">
              <a:spcBef>
                <a:spcPts val="1800"/>
              </a:spcBef>
              <a:buFont typeface="Symbol" pitchFamily="2" charset="2"/>
              <a:buChar char=""/>
            </a:pPr>
            <a:r>
              <a:rPr lang="en-US" sz="2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sz="2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igh personalization of disinformation </a:t>
            </a:r>
            <a:endParaRPr lang="ru-UA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85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D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C3076-23B7-8AB3-AF53-21FD2E5FA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400"/>
            <a:ext cx="10192200" cy="1490400"/>
          </a:xfrm>
        </p:spPr>
        <p:txBody>
          <a:bodyPr>
            <a:normAutofit fontScale="90000"/>
          </a:bodyPr>
          <a:lstStyle/>
          <a:p>
            <a:br>
              <a:rPr lang="en-US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3600" b="1" dirty="0">
                <a:latin typeface="Rockwell" panose="02060603020205020403" pitchFamily="18" charset="0"/>
              </a:rPr>
              <a:t>Key goals for Ukraine’s new Information Security Strategy</a:t>
            </a:r>
            <a:br>
              <a:rPr lang="ru-UA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59571A-2DB3-E510-FBFB-5A195E950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5600" y="2509705"/>
            <a:ext cx="8985600" cy="2688695"/>
          </a:xfrm>
        </p:spPr>
        <p:txBody>
          <a:bodyPr>
            <a:noAutofit/>
          </a:bodyPr>
          <a:lstStyle/>
          <a:p>
            <a:pPr marL="760413" indent="-266700">
              <a:spcBef>
                <a:spcPts val="600"/>
              </a:spcBef>
            </a:pPr>
            <a:r>
              <a:rPr lang="en-US" sz="2000" b="1" dirty="0">
                <a:solidFill>
                  <a:srgbClr val="000000"/>
                </a:solidFill>
                <a:latin typeface="Rockwell" panose="02060603020205020403" pitchFamily="18" charset="0"/>
              </a:rPr>
              <a:t>Improving the legal framework for media responsibility for spreading disinformation</a:t>
            </a:r>
          </a:p>
          <a:p>
            <a:pPr marL="760413" indent="-266700">
              <a:spcBef>
                <a:spcPts val="600"/>
              </a:spcBef>
              <a:buNone/>
            </a:pPr>
            <a:endParaRPr lang="ru-UA" sz="2000" b="1" dirty="0">
              <a:solidFill>
                <a:srgbClr val="000000"/>
              </a:solidFill>
            </a:endParaRPr>
          </a:p>
          <a:p>
            <a:pPr marL="760413" indent="-266700">
              <a:spcBef>
                <a:spcPts val="600"/>
              </a:spcBef>
            </a:pPr>
            <a:r>
              <a:rPr lang="en-US" sz="2000" b="1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</a:rPr>
              <a:t>Developing an integrated system for early detection, forecasting, and prevention of hybrid threats</a:t>
            </a:r>
          </a:p>
          <a:p>
            <a:pPr marL="760413" indent="-266700">
              <a:spcBef>
                <a:spcPts val="600"/>
              </a:spcBef>
              <a:buNone/>
            </a:pPr>
            <a:endParaRPr lang="ru-UA" sz="2000" b="1" dirty="0">
              <a:effectLst/>
              <a:ea typeface="Times New Roman" panose="02020603050405020304" pitchFamily="18" charset="0"/>
            </a:endParaRPr>
          </a:p>
          <a:p>
            <a:pPr marL="760413" indent="-266700">
              <a:spcBef>
                <a:spcPts val="600"/>
              </a:spcBef>
            </a:pPr>
            <a:r>
              <a:rPr lang="en-US" sz="2000" b="1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</a:rPr>
              <a:t>Enhancing the effectiveness and transparency of the Center for Countering Disinformation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83C8242-EA7E-A675-2B67-C837368177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22"/>
          <a:stretch/>
        </p:blipFill>
        <p:spPr bwMode="auto">
          <a:xfrm>
            <a:off x="-7200" y="2593971"/>
            <a:ext cx="3268800" cy="244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50179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D0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C3076-23B7-8AB3-AF53-21FD2E5FA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400"/>
            <a:ext cx="10192200" cy="1490400"/>
          </a:xfrm>
        </p:spPr>
        <p:txBody>
          <a:bodyPr>
            <a:normAutofit fontScale="90000"/>
          </a:bodyPr>
          <a:lstStyle/>
          <a:p>
            <a:br>
              <a:rPr lang="en-US" sz="4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3600" b="1" dirty="0">
                <a:latin typeface="Rockwell" panose="02060603020205020403" pitchFamily="18" charset="0"/>
              </a:rPr>
              <a:t>Key goals for Ukraine’s new Information Security Strategy</a:t>
            </a:r>
            <a:br>
              <a:rPr lang="ru-UA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UA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59571A-2DB3-E510-FBFB-5A195E950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0400" y="2812105"/>
            <a:ext cx="7459200" cy="3116589"/>
          </a:xfrm>
        </p:spPr>
        <p:txBody>
          <a:bodyPr>
            <a:noAutofit/>
          </a:bodyPr>
          <a:lstStyle/>
          <a:p>
            <a:pPr marL="357188" indent="-357188" algn="just">
              <a:spcBef>
                <a:spcPts val="1200"/>
              </a:spcBef>
            </a:pPr>
            <a:r>
              <a:rPr lang="en-US" sz="2000" b="1" dirty="0">
                <a:solidFill>
                  <a:srgbClr val="000000"/>
                </a:solidFill>
                <a:latin typeface="Rockwell" panose="02060603020205020403" pitchFamily="18" charset="0"/>
              </a:rPr>
              <a:t>Promoting media literacy and information culture </a:t>
            </a:r>
          </a:p>
          <a:p>
            <a:pPr marL="760413" indent="-266700" algn="just">
              <a:spcBef>
                <a:spcPts val="1200"/>
              </a:spcBef>
              <a:buNone/>
            </a:pPr>
            <a:endParaRPr lang="ru-UA" sz="2000" b="1" dirty="0">
              <a:solidFill>
                <a:srgbClr val="000000"/>
              </a:solidFill>
            </a:endParaRPr>
          </a:p>
          <a:p>
            <a:pPr marL="314325" indent="-314325" algn="just">
              <a:spcBef>
                <a:spcPts val="1200"/>
              </a:spcBef>
            </a:pPr>
            <a:r>
              <a:rPr lang="en-US" sz="2000" b="1" dirty="0">
                <a:solidFill>
                  <a:srgbClr val="000000"/>
                </a:solidFill>
                <a:latin typeface="Rockwell" panose="02060603020205020403" pitchFamily="18" charset="0"/>
              </a:rPr>
              <a:t>Ensuring information </a:t>
            </a:r>
            <a:r>
              <a:rPr lang="en-US" sz="2000" b="1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</a:rPr>
              <a:t>security of critical infrastructure</a:t>
            </a:r>
          </a:p>
          <a:p>
            <a:pPr marL="760413" indent="-358775" algn="just">
              <a:spcBef>
                <a:spcPts val="1200"/>
              </a:spcBef>
              <a:buNone/>
            </a:pPr>
            <a:endParaRPr lang="ru-UA" sz="2000" b="1" dirty="0">
              <a:effectLst/>
              <a:ea typeface="Times New Roman" panose="02020603050405020304" pitchFamily="18" charset="0"/>
            </a:endParaRPr>
          </a:p>
          <a:p>
            <a:pPr marL="357188" indent="-350838" algn="just">
              <a:spcBef>
                <a:spcPts val="1200"/>
              </a:spcBef>
            </a:pPr>
            <a:r>
              <a:rPr lang="en-US" sz="2000" b="1" dirty="0">
                <a:solidFill>
                  <a:srgbClr val="000000"/>
                </a:solidFill>
                <a:latin typeface="Rockwell" panose="02060603020205020403" pitchFamily="18" charset="0"/>
              </a:rPr>
              <a:t>Enhancing resource </a:t>
            </a:r>
            <a:r>
              <a:rPr lang="en-US" sz="2000" b="1" dirty="0">
                <a:solidFill>
                  <a:srgbClr val="000000"/>
                </a:solidFill>
                <a:effectLst/>
                <a:latin typeface="Rockwell" panose="02060603020205020403" pitchFamily="18" charset="0"/>
                <a:ea typeface="Calibri" panose="020F0502020204030204" pitchFamily="34" charset="0"/>
              </a:rPr>
              <a:t>provision and specialist training</a:t>
            </a:r>
            <a:endParaRPr lang="ru-UA" sz="2000" b="1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83C8242-EA7E-A675-2B67-C837368177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422"/>
          <a:stretch/>
        </p:blipFill>
        <p:spPr bwMode="auto">
          <a:xfrm>
            <a:off x="-7200" y="2593971"/>
            <a:ext cx="3268800" cy="244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09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B4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>
            <a:extLst>
              <a:ext uri="{FF2B5EF4-FFF2-40B4-BE49-F238E27FC236}">
                <a16:creationId xmlns:a16="http://schemas.microsoft.com/office/drawing/2014/main" id="{EA27B038-BCA9-6546-D506-60F8B93474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80" r="22991"/>
          <a:stretch/>
        </p:blipFill>
        <p:spPr bwMode="auto">
          <a:xfrm>
            <a:off x="0" y="0"/>
            <a:ext cx="89016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C1C274-CCEF-4B21-959E-CAB0A3A83C43}"/>
              </a:ext>
            </a:extLst>
          </p:cNvPr>
          <p:cNvSpPr txBox="1"/>
          <p:nvPr/>
        </p:nvSpPr>
        <p:spPr>
          <a:xfrm>
            <a:off x="4450800" y="2193235"/>
            <a:ext cx="4018643" cy="2400657"/>
          </a:xfrm>
          <a:prstGeom prst="rect">
            <a:avLst/>
          </a:prstGeom>
          <a:solidFill>
            <a:srgbClr val="43B49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5000" b="1" i="0" dirty="0">
                <a:solidFill>
                  <a:srgbClr val="FFC000"/>
                </a:solidFill>
                <a:effectLst/>
                <a:latin typeface="ACADEMY ENGRAVED LET PLAIN:1.0" panose="02000000000000000000" pitchFamily="2" charset="0"/>
              </a:rPr>
              <a:t>Thanks </a:t>
            </a:r>
            <a:endParaRPr lang="uk-UA" sz="5000" b="1" i="0" dirty="0">
              <a:solidFill>
                <a:srgbClr val="FFC000"/>
              </a:solidFill>
              <a:effectLst/>
              <a:latin typeface="ACADEMY ENGRAVED LET PLAIN:1.0" panose="02000000000000000000" pitchFamily="2" charset="0"/>
            </a:endParaRPr>
          </a:p>
          <a:p>
            <a:pPr algn="ctr"/>
            <a:r>
              <a:rPr lang="en-US" sz="5000" b="1" i="0" dirty="0">
                <a:solidFill>
                  <a:srgbClr val="FFC000"/>
                </a:solidFill>
                <a:effectLst/>
                <a:latin typeface="ACADEMY ENGRAVED LET PLAIN:1.0" panose="02000000000000000000" pitchFamily="2" charset="0"/>
              </a:rPr>
              <a:t>for your time and interest</a:t>
            </a:r>
            <a:endParaRPr lang="ru-UA" sz="5000" b="1" dirty="0">
              <a:solidFill>
                <a:srgbClr val="FFC000"/>
              </a:solidFill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305547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5633</TotalTime>
  <Words>727</Words>
  <Application>Microsoft Macintosh PowerPoint</Application>
  <PresentationFormat>Широкоэкранный</PresentationFormat>
  <Paragraphs>108</Paragraphs>
  <Slides>22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4" baseType="lpstr">
      <vt:lpstr>ACADEMY ENGRAVED LET PLAIN:1.0</vt:lpstr>
      <vt:lpstr>Arial</vt:lpstr>
      <vt:lpstr>Calibri</vt:lpstr>
      <vt:lpstr>Calibri Light</vt:lpstr>
      <vt:lpstr>Dubai</vt:lpstr>
      <vt:lpstr>Helvetica</vt:lpstr>
      <vt:lpstr>Nunito</vt:lpstr>
      <vt:lpstr>Rockwell</vt:lpstr>
      <vt:lpstr>Source Serif Pro Black</vt:lpstr>
      <vt:lpstr>Symbol</vt:lpstr>
      <vt:lpstr>Times New Roman</vt:lpstr>
      <vt:lpstr>Тема Office</vt:lpstr>
      <vt:lpstr>MEDIA DISINFORMATION COUNTERSTRATEGY: CHALLENGES AND PROSPECTS  </vt:lpstr>
      <vt:lpstr>Презентация PowerPoint</vt:lpstr>
      <vt:lpstr>Презентация PowerPoint</vt:lpstr>
      <vt:lpstr>Презентация PowerPoint</vt:lpstr>
      <vt:lpstr>Презентация PowerPoint</vt:lpstr>
      <vt:lpstr>THE CENTER FOR COUNTERING DISINFORMATION  UNDER THE NATIONAL SECURITY AND DEFENSE COUNCIL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Key goals for Ukraine’s new Information Security Strategy </vt:lpstr>
      <vt:lpstr> Key goals for Ukraine’s new Information Security Strategy 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Гуржій Тарас Олександрович</dc:creator>
  <cp:lastModifiedBy>Microsoft Office User</cp:lastModifiedBy>
  <cp:revision>31</cp:revision>
  <dcterms:created xsi:type="dcterms:W3CDTF">2025-08-22T12:48:50Z</dcterms:created>
  <dcterms:modified xsi:type="dcterms:W3CDTF">2026-05-09T09:06:22Z</dcterms:modified>
</cp:coreProperties>
</file>